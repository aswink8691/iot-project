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60" r:id="rId1"/>
  </p:sldMasterIdLst>
  <p:notesMasterIdLst>
    <p:notesMasterId r:id="rId10"/>
  </p:notesMasterIdLst>
  <p:sldIdLst>
    <p:sldId id="256" r:id="rId2"/>
    <p:sldId id="274" r:id="rId3"/>
    <p:sldId id="279" r:id="rId4"/>
    <p:sldId id="281" r:id="rId5"/>
    <p:sldId id="282" r:id="rId6"/>
    <p:sldId id="284" r:id="rId7"/>
    <p:sldId id="280" r:id="rId8"/>
    <p:sldId id="266" r:id="rId9"/>
  </p:sldIdLst>
  <p:sldSz cx="14630400" cy="8229600"/>
  <p:notesSz cx="8229600" cy="14630400"/>
  <p:embeddedFontLst>
    <p:embeddedFont>
      <p:font typeface="Inter" panose="020B0604020202020204" charset="0"/>
      <p:regular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CC"/>
    <a:srgbClr val="33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4559" autoAdjust="0"/>
    <p:restoredTop sz="86355" autoAdjust="0"/>
  </p:normalViewPr>
  <p:slideViewPr>
    <p:cSldViewPr snapToGrid="0" snapToObjects="1">
      <p:cViewPr varScale="1">
        <p:scale>
          <a:sx n="59" d="100"/>
          <a:sy n="59" d="100"/>
        </p:scale>
        <p:origin x="269" y="77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156926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18232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24155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28800" y="1346836"/>
            <a:ext cx="10972800" cy="2865120"/>
          </a:xfrm>
        </p:spPr>
        <p:txBody>
          <a:bodyPr anchor="b"/>
          <a:lstStyle>
            <a:lvl1pPr algn="ctr">
              <a:defRPr sz="7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4322446"/>
            <a:ext cx="10972800" cy="1986914"/>
          </a:xfrm>
        </p:spPr>
        <p:txBody>
          <a:bodyPr/>
          <a:lstStyle>
            <a:lvl1pPr marL="0" indent="0" algn="ctr">
              <a:buNone/>
              <a:defRPr sz="2880"/>
            </a:lvl1pPr>
            <a:lvl2pPr marL="548640" indent="0" algn="ctr">
              <a:buNone/>
              <a:defRPr sz="2400"/>
            </a:lvl2pPr>
            <a:lvl3pPr marL="1097280" indent="0" algn="ctr">
              <a:buNone/>
              <a:defRPr sz="2160"/>
            </a:lvl3pPr>
            <a:lvl4pPr marL="1645920" indent="0" algn="ctr">
              <a:buNone/>
              <a:defRPr sz="1920"/>
            </a:lvl4pPr>
            <a:lvl5pPr marL="2194560" indent="0" algn="ctr">
              <a:buNone/>
              <a:defRPr sz="1920"/>
            </a:lvl5pPr>
            <a:lvl6pPr marL="2743200" indent="0" algn="ctr">
              <a:buNone/>
              <a:defRPr sz="1920"/>
            </a:lvl6pPr>
            <a:lvl7pPr marL="3291840" indent="0" algn="ctr">
              <a:buNone/>
              <a:defRPr sz="1920"/>
            </a:lvl7pPr>
            <a:lvl8pPr marL="3840480" indent="0" algn="ctr">
              <a:buNone/>
              <a:defRPr sz="1920"/>
            </a:lvl8pPr>
            <a:lvl9pPr marL="4389120" indent="0" algn="ctr">
              <a:buNone/>
              <a:defRPr sz="192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6A7D9-91F0-4852-BB0F-162D34FA4C9A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F5F05-C38A-46DB-B59D-BBC0815C65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8875406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6A7D9-91F0-4852-BB0F-162D34FA4C9A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F5F05-C38A-46DB-B59D-BBC0815C65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64736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8220" y="2051686"/>
            <a:ext cx="12618720" cy="3423284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8220" y="5507356"/>
            <a:ext cx="12618720" cy="1800224"/>
          </a:xfrm>
        </p:spPr>
        <p:txBody>
          <a:bodyPr/>
          <a:lstStyle>
            <a:lvl1pPr marL="0" indent="0">
              <a:buNone/>
              <a:defRPr sz="2880">
                <a:solidFill>
                  <a:schemeClr val="tx1">
                    <a:tint val="75000"/>
                  </a:schemeClr>
                </a:solidFill>
              </a:defRPr>
            </a:lvl1pPr>
            <a:lvl2pPr marL="54864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6A7D9-91F0-4852-BB0F-162D34FA4C9A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F5F05-C38A-46DB-B59D-BBC0815C65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6558180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05840" y="2190750"/>
            <a:ext cx="6217920" cy="52216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06640" y="2190750"/>
            <a:ext cx="6217920" cy="52216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6A7D9-91F0-4852-BB0F-162D34FA4C9A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F5F05-C38A-46DB-B59D-BBC0815C65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7295078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438150"/>
            <a:ext cx="12618720" cy="159067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7746" y="2017396"/>
            <a:ext cx="6189344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7746" y="3006090"/>
            <a:ext cx="6189344" cy="44215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406640" y="2017396"/>
            <a:ext cx="6219826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406640" y="3006090"/>
            <a:ext cx="6219826" cy="44215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6A7D9-91F0-4852-BB0F-162D34FA4C9A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F5F05-C38A-46DB-B59D-BBC0815C65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4879895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6A7D9-91F0-4852-BB0F-162D34FA4C9A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F5F05-C38A-46DB-B59D-BBC0815C65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0441299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6A7D9-91F0-4852-BB0F-162D34FA4C9A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F5F05-C38A-46DB-B59D-BBC0815C65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2896509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19826" y="1184911"/>
            <a:ext cx="7406640" cy="5848350"/>
          </a:xfrm>
        </p:spPr>
        <p:txBody>
          <a:bodyPr/>
          <a:lstStyle>
            <a:lvl1pPr>
              <a:defRPr sz="3840"/>
            </a:lvl1pPr>
            <a:lvl2pPr>
              <a:defRPr sz="3360"/>
            </a:lvl2pPr>
            <a:lvl3pPr>
              <a:defRPr sz="288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6A7D9-91F0-4852-BB0F-162D34FA4C9A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F5F05-C38A-46DB-B59D-BBC0815C65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1518433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219826" y="1184911"/>
            <a:ext cx="7406640" cy="5848350"/>
          </a:xfrm>
        </p:spPr>
        <p:txBody>
          <a:bodyPr/>
          <a:lstStyle>
            <a:lvl1pPr marL="0" indent="0">
              <a:buNone/>
              <a:defRPr sz="384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6A7D9-91F0-4852-BB0F-162D34FA4C9A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F5F05-C38A-46DB-B59D-BBC0815C65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5767367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6A7D9-91F0-4852-BB0F-162D34FA4C9A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F5F05-C38A-46DB-B59D-BBC0815C65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8504846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469880" y="438150"/>
            <a:ext cx="3154680" cy="6974206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05840" y="438150"/>
            <a:ext cx="9281160" cy="697420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6A7D9-91F0-4852-BB0F-162D34FA4C9A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F5F05-C38A-46DB-B59D-BBC0815C65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8334138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2421515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464275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298882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05840" y="438150"/>
            <a:ext cx="12618720" cy="15906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40" y="2190750"/>
            <a:ext cx="12618720" cy="52216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0584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F6A7D9-91F0-4852-BB0F-162D34FA4C9A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6320" y="7627621"/>
            <a:ext cx="493776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3272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5F5F05-C38A-46DB-B59D-BBC0815C65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30842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5" r:id="rId14"/>
  </p:sldLayoutIdLst>
  <p:hf sldNum="0" hdr="0" ftr="0" dt="0"/>
  <p:txStyles>
    <p:titleStyle>
      <a:lvl1pPr algn="l" defTabSz="1097280" rtl="0" eaLnBrk="1" latinLnBrk="0" hangingPunct="1">
        <a:lnSpc>
          <a:spcPct val="90000"/>
        </a:lnSpc>
        <a:spcBef>
          <a:spcPct val="0"/>
        </a:spcBef>
        <a:buNone/>
        <a:defRPr sz="52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109728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46888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301752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0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2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52569" y="237813"/>
            <a:ext cx="7556421" cy="2338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100"/>
              </a:lnSpc>
              <a:buNone/>
            </a:pPr>
            <a:r>
              <a:rPr lang="en-US" sz="4900" b="1" dirty="0">
                <a:solidFill>
                  <a:srgbClr val="3366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Design Thinking &amp;</a:t>
            </a:r>
          </a:p>
          <a:p>
            <a:pPr marL="0" indent="0" algn="l">
              <a:lnSpc>
                <a:spcPts val="6100"/>
              </a:lnSpc>
              <a:buNone/>
            </a:pPr>
            <a:r>
              <a:rPr lang="en-US" sz="4900" b="1" dirty="0">
                <a:solidFill>
                  <a:srgbClr val="3366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IDEA Lab </a:t>
            </a:r>
          </a:p>
          <a:p>
            <a:pPr marL="0" indent="0" algn="l">
              <a:lnSpc>
                <a:spcPts val="6100"/>
              </a:lnSpc>
              <a:buNone/>
            </a:pPr>
            <a:r>
              <a:rPr lang="en-US" sz="2800" b="1" i="1" dirty="0">
                <a:solidFill>
                  <a:srgbClr val="FF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Transforming Ideas into Reality</a:t>
            </a:r>
            <a:endParaRPr lang="en-US" sz="2800" i="1" dirty="0">
              <a:solidFill>
                <a:srgbClr val="FF0000"/>
              </a:solidFill>
            </a:endParaRPr>
          </a:p>
        </p:txBody>
      </p:sp>
      <p:sp>
        <p:nvSpPr>
          <p:cNvPr id="4" name="Text 1"/>
          <p:cNvSpPr/>
          <p:nvPr/>
        </p:nvSpPr>
        <p:spPr>
          <a:xfrm>
            <a:off x="552569" y="2751788"/>
            <a:ext cx="7556421" cy="1431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/>
            <a:r>
              <a:rPr lang="en-US" sz="2800" i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Title: </a:t>
            </a:r>
            <a:r>
              <a:rPr lang="en-US" sz="2800" b="1" dirty="0">
                <a:latin typeface="Inter Bold" pitchFamily="34" charset="0"/>
                <a:ea typeface="Inter Bold" pitchFamily="34" charset="-122"/>
                <a:cs typeface="Inter Bold" pitchFamily="34" charset="-120"/>
              </a:rPr>
              <a:t>IoT-Based Monitoring System for Solar/Wind Microgrids</a:t>
            </a:r>
            <a:endParaRPr lang="en-US" sz="2800" dirty="0"/>
          </a:p>
          <a:p>
            <a:pPr algn="just"/>
            <a:endParaRPr lang="en-US" sz="2800" i="1" dirty="0"/>
          </a:p>
        </p:txBody>
      </p:sp>
      <p:sp>
        <p:nvSpPr>
          <p:cNvPr id="5" name="Shape 2"/>
          <p:cNvSpPr/>
          <p:nvPr/>
        </p:nvSpPr>
        <p:spPr>
          <a:xfrm>
            <a:off x="656629" y="5211261"/>
            <a:ext cx="7556421" cy="2789740"/>
          </a:xfrm>
          <a:prstGeom prst="roundRect">
            <a:avLst>
              <a:gd name="adj" fmla="val 9884"/>
            </a:avLst>
          </a:prstGeom>
          <a:solidFill>
            <a:srgbClr val="B6D6FC"/>
          </a:solidFill>
          <a:ln/>
        </p:spPr>
      </p:sp>
      <p:sp>
        <p:nvSpPr>
          <p:cNvPr id="7" name="Text 3"/>
          <p:cNvSpPr/>
          <p:nvPr/>
        </p:nvSpPr>
        <p:spPr>
          <a:xfrm>
            <a:off x="850412" y="5418281"/>
            <a:ext cx="6960733" cy="2375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</a:rPr>
              <a:t>Team Members Reg. No. &amp; Name &amp; Responsibility</a:t>
            </a:r>
          </a:p>
          <a:p>
            <a:pPr>
              <a:lnSpc>
                <a:spcPts val="2850"/>
              </a:lnSpc>
            </a:pPr>
            <a:r>
              <a:rPr lang="en-US" sz="2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</a:rPr>
              <a:t>  1.</a:t>
            </a:r>
            <a:r>
              <a:rPr lang="en-US" sz="20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2000" dirty="0">
                <a:latin typeface="Inter" pitchFamily="34" charset="0"/>
                <a:ea typeface="Inter" pitchFamily="34" charset="-122"/>
                <a:cs typeface="Inter" pitchFamily="34" charset="-120"/>
              </a:rPr>
              <a:t>Boobalan M(034),</a:t>
            </a:r>
            <a:endParaRPr lang="en-US" sz="2000" dirty="0">
              <a:latin typeface="Inter" pitchFamily="34" charset="0"/>
              <a:ea typeface="Inter" pitchFamily="34" charset="-122"/>
            </a:endParaRPr>
          </a:p>
          <a:p>
            <a:pPr>
              <a:lnSpc>
                <a:spcPts val="2850"/>
              </a:lnSpc>
            </a:pPr>
            <a:r>
              <a:rPr lang="en-US" sz="2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</a:rPr>
              <a:t>  2.</a:t>
            </a:r>
            <a:r>
              <a:rPr lang="en-US" sz="20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2000" dirty="0">
                <a:latin typeface="Inter" pitchFamily="34" charset="0"/>
                <a:ea typeface="Inter" pitchFamily="34" charset="-122"/>
                <a:cs typeface="Inter" pitchFamily="34" charset="-120"/>
              </a:rPr>
              <a:t>Aswin Prasath K(028), </a:t>
            </a:r>
            <a:endParaRPr lang="en-US" sz="2000" dirty="0">
              <a:latin typeface="Inter" pitchFamily="34" charset="0"/>
              <a:ea typeface="Inter" pitchFamily="34" charset="-122"/>
            </a:endParaRPr>
          </a:p>
          <a:p>
            <a:pPr>
              <a:lnSpc>
                <a:spcPts val="2850"/>
              </a:lnSpc>
            </a:pPr>
            <a:r>
              <a:rPr lang="en-US" sz="2000" dirty="0">
                <a:latin typeface="Inter" pitchFamily="34" charset="0"/>
                <a:ea typeface="Inter" pitchFamily="34" charset="-122"/>
              </a:rPr>
              <a:t>  3.</a:t>
            </a:r>
            <a:r>
              <a:rPr lang="en-US" sz="2000" dirty="0"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2000" dirty="0" err="1">
                <a:latin typeface="Inter" pitchFamily="34" charset="0"/>
                <a:ea typeface="Inter" pitchFamily="34" charset="-122"/>
                <a:cs typeface="Inter" pitchFamily="34" charset="-120"/>
              </a:rPr>
              <a:t>Gajeswaran</a:t>
            </a:r>
            <a:r>
              <a:rPr lang="en-US" sz="2000" dirty="0">
                <a:latin typeface="Inter" pitchFamily="34" charset="0"/>
                <a:ea typeface="Inter" pitchFamily="34" charset="-122"/>
                <a:cs typeface="Inter" pitchFamily="34" charset="-120"/>
              </a:rPr>
              <a:t> B(056),</a:t>
            </a:r>
            <a:endParaRPr lang="en-US" sz="2000" dirty="0">
              <a:latin typeface="Inter" pitchFamily="34" charset="0"/>
              <a:ea typeface="Inter" pitchFamily="34" charset="-122"/>
            </a:endParaRPr>
          </a:p>
          <a:p>
            <a:pPr>
              <a:lnSpc>
                <a:spcPts val="2850"/>
              </a:lnSpc>
            </a:pPr>
            <a:r>
              <a:rPr lang="en-US" sz="2000" dirty="0">
                <a:latin typeface="Inter" pitchFamily="34" charset="0"/>
                <a:ea typeface="Inter" pitchFamily="34" charset="-122"/>
              </a:rPr>
              <a:t>  4.</a:t>
            </a:r>
            <a:r>
              <a:rPr lang="en-US" sz="2000" dirty="0">
                <a:latin typeface="Inter" pitchFamily="34" charset="0"/>
                <a:ea typeface="Inter" pitchFamily="34" charset="-122"/>
                <a:cs typeface="Inter" pitchFamily="34" charset="-120"/>
              </a:rPr>
              <a:t> Gokul P(061)</a:t>
            </a:r>
            <a:endParaRPr lang="en-US" sz="2000" dirty="0">
              <a:latin typeface="Inter" pitchFamily="34" charset="0"/>
              <a:ea typeface="Inter" pitchFamily="34" charset="-122"/>
            </a:endParaRPr>
          </a:p>
          <a:p>
            <a:pPr marL="0" indent="0">
              <a:lnSpc>
                <a:spcPts val="285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</a:rPr>
              <a:t>  </a:t>
            </a:r>
            <a:endParaRPr lang="en-US" sz="20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0360" y="-6668"/>
            <a:ext cx="2453640" cy="1754724"/>
          </a:xfrm>
          <a:prstGeom prst="rect">
            <a:avLst/>
          </a:prstGeom>
        </p:spPr>
      </p:pic>
      <p:sp>
        <p:nvSpPr>
          <p:cNvPr id="9" name="Text 1"/>
          <p:cNvSpPr/>
          <p:nvPr/>
        </p:nvSpPr>
        <p:spPr>
          <a:xfrm>
            <a:off x="552569" y="4304333"/>
            <a:ext cx="3122616" cy="532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/>
            <a:r>
              <a:rPr lang="en-US" sz="2800" i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Batch Number: 6</a:t>
            </a:r>
            <a:endParaRPr lang="en-US" sz="2800" i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0218" y="331343"/>
            <a:ext cx="8403669" cy="776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n-US" sz="5400" b="1" dirty="0"/>
              <a:t>Problem Statement</a:t>
            </a:r>
            <a:endParaRPr lang="en-US" sz="5400" dirty="0"/>
          </a:p>
          <a:p>
            <a:endParaRPr lang="en-US" sz="5400" dirty="0"/>
          </a:p>
        </p:txBody>
      </p:sp>
      <p:sp>
        <p:nvSpPr>
          <p:cNvPr id="19" name="Text 1"/>
          <p:cNvSpPr/>
          <p:nvPr/>
        </p:nvSpPr>
        <p:spPr>
          <a:xfrm>
            <a:off x="790218" y="1749465"/>
            <a:ext cx="13084044" cy="29632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/>
            <a:endParaRPr lang="en-US" sz="2800" i="1" dirty="0"/>
          </a:p>
        </p:txBody>
      </p:sp>
      <p:sp>
        <p:nvSpPr>
          <p:cNvPr id="21" name="Shape 2"/>
          <p:cNvSpPr/>
          <p:nvPr/>
        </p:nvSpPr>
        <p:spPr>
          <a:xfrm>
            <a:off x="790218" y="5205047"/>
            <a:ext cx="12937896" cy="2789740"/>
          </a:xfrm>
          <a:prstGeom prst="roundRect">
            <a:avLst>
              <a:gd name="adj" fmla="val 9884"/>
            </a:avLst>
          </a:prstGeom>
          <a:solidFill>
            <a:srgbClr val="B6D6FC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22" name="Text 1"/>
          <p:cNvSpPr/>
          <p:nvPr/>
        </p:nvSpPr>
        <p:spPr>
          <a:xfrm>
            <a:off x="1095213" y="5398298"/>
            <a:ext cx="12462525" cy="2426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/>
            <a:r>
              <a:rPr lang="en-US" sz="2800" dirty="0">
                <a:latin typeface="Inter" pitchFamily="34" charset="0"/>
                <a:ea typeface="Inter" pitchFamily="34" charset="-122"/>
                <a:cs typeface="Inter" pitchFamily="34" charset="-120"/>
              </a:rPr>
              <a:t>Current solar/wind microgrids in rural areas face significant challenges that undermine their potential for reliable and sustainable power supply</a:t>
            </a:r>
            <a:r>
              <a:rPr lang="en-US" sz="28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2800" dirty="0"/>
          </a:p>
          <a:p>
            <a:pPr algn="just"/>
            <a:endParaRPr lang="en-US" sz="2800" i="1" dirty="0"/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38920" y="141567"/>
            <a:ext cx="2450804" cy="17558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16B84FF-4A69-F4DB-CC11-3A1BB8E07422}"/>
              </a:ext>
            </a:extLst>
          </p:cNvPr>
          <p:cNvSpPr txBox="1"/>
          <p:nvPr/>
        </p:nvSpPr>
        <p:spPr>
          <a:xfrm>
            <a:off x="940526" y="1579832"/>
            <a:ext cx="7315200" cy="4213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800" b="1" dirty="0">
                <a:latin typeface="Inter Bold" pitchFamily="34" charset="0"/>
                <a:ea typeface="Inter Bold" pitchFamily="34" charset="-122"/>
                <a:cs typeface="Inter Bold" pitchFamily="34" charset="-120"/>
              </a:rPr>
              <a:t>No real time energy tracking</a:t>
            </a:r>
            <a:endParaRPr lang="en-US" sz="1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2F97D75-7F2B-CAD0-ACEF-2FEF18D6784F}"/>
              </a:ext>
            </a:extLst>
          </p:cNvPr>
          <p:cNvSpPr txBox="1"/>
          <p:nvPr/>
        </p:nvSpPr>
        <p:spPr>
          <a:xfrm>
            <a:off x="940526" y="2265543"/>
            <a:ext cx="7315200" cy="4213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800" b="1" dirty="0">
                <a:latin typeface="Inter Bold" pitchFamily="34" charset="0"/>
                <a:ea typeface="Inter Bold" pitchFamily="34" charset="-122"/>
                <a:cs typeface="Inter Bold" pitchFamily="34" charset="-120"/>
              </a:rPr>
              <a:t>Battery failures goes unnoticed</a:t>
            </a:r>
            <a:endParaRPr lang="en-US" sz="1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AD9577A-CC42-40EF-893A-6717467C4B13}"/>
              </a:ext>
            </a:extLst>
          </p:cNvPr>
          <p:cNvSpPr txBox="1"/>
          <p:nvPr/>
        </p:nvSpPr>
        <p:spPr>
          <a:xfrm>
            <a:off x="483326" y="2911213"/>
            <a:ext cx="7315200" cy="4292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lnSpc>
                <a:spcPts val="2850"/>
              </a:lnSpc>
            </a:pPr>
            <a:r>
              <a:rPr lang="en-US" sz="1750" b="1" dirty="0">
                <a:latin typeface="Inter" pitchFamily="34" charset="0"/>
                <a:ea typeface="Inter" pitchFamily="34" charset="-122"/>
                <a:cs typeface="Inter" pitchFamily="34" charset="-120"/>
              </a:rPr>
              <a:t>High </a:t>
            </a:r>
            <a:r>
              <a:rPr lang="en-US" sz="1750" b="1" dirty="0" err="1">
                <a:latin typeface="Inter" pitchFamily="34" charset="0"/>
                <a:ea typeface="Inter" pitchFamily="34" charset="-122"/>
                <a:cs typeface="Inter" pitchFamily="34" charset="-120"/>
              </a:rPr>
              <a:t>Maintainence</a:t>
            </a:r>
            <a:r>
              <a:rPr lang="en-US" sz="1750" b="1" dirty="0">
                <a:latin typeface="Inter" pitchFamily="34" charset="0"/>
                <a:ea typeface="Inter" pitchFamily="34" charset="-122"/>
                <a:cs typeface="Inter" pitchFamily="34" charset="-120"/>
              </a:rPr>
              <a:t> Cost </a:t>
            </a:r>
            <a:endParaRPr lang="en-US" sz="175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B2CBDF6-F43C-11AE-126F-BD4C9C7FBC3B}"/>
              </a:ext>
            </a:extLst>
          </p:cNvPr>
          <p:cNvSpPr txBox="1"/>
          <p:nvPr/>
        </p:nvSpPr>
        <p:spPr>
          <a:xfrm>
            <a:off x="940526" y="3601278"/>
            <a:ext cx="7315200" cy="4213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800" b="1" dirty="0"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Inefficiencies reduce performance</a:t>
            </a:r>
            <a:endParaRPr lang="en-US" sz="1800" dirty="0"/>
          </a:p>
        </p:txBody>
      </p:sp>
      <p:pic>
        <p:nvPicPr>
          <p:cNvPr id="1026" name="Picture 2" descr="Most of India's rural solar systems no longer work due to poor maintenance - The Washington Post">
            <a:extLst>
              <a:ext uri="{FF2B5EF4-FFF2-40B4-BE49-F238E27FC236}">
                <a16:creationId xmlns:a16="http://schemas.microsoft.com/office/drawing/2014/main" id="{90BE38D5-F2A9-A40E-8AFC-4451216C26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1898" y="1196681"/>
            <a:ext cx="3215726" cy="21438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INDIA-ENERGY-ELECTRICITY">
            <a:extLst>
              <a:ext uri="{FF2B5EF4-FFF2-40B4-BE49-F238E27FC236}">
                <a16:creationId xmlns:a16="http://schemas.microsoft.com/office/drawing/2014/main" id="{5EDC3255-B8B3-5C3F-9269-CD75A7F697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70274" y="2911213"/>
            <a:ext cx="3407813" cy="22331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390662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0218" y="331343"/>
            <a:ext cx="8403669" cy="776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n-US" sz="5400" b="1" dirty="0"/>
              <a:t>Define </a:t>
            </a:r>
          </a:p>
          <a:p>
            <a:endParaRPr lang="en-US" sz="5400" dirty="0"/>
          </a:p>
        </p:txBody>
      </p:sp>
      <p:sp>
        <p:nvSpPr>
          <p:cNvPr id="19" name="Text 1"/>
          <p:cNvSpPr/>
          <p:nvPr/>
        </p:nvSpPr>
        <p:spPr>
          <a:xfrm>
            <a:off x="790218" y="1749465"/>
            <a:ext cx="13084044" cy="29632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>
                <a:solidFill>
                  <a:schemeClr val="tx2"/>
                </a:solidFill>
                <a:latin typeface="Arial" panose="020B0604020202020204" pitchFamily="34" charset="0"/>
              </a:rPr>
              <a:t>IoT-based monitoring systems use </a:t>
            </a:r>
            <a:r>
              <a:rPr lang="en-US" altLang="en-US" sz="2800" b="1" dirty="0">
                <a:solidFill>
                  <a:schemeClr val="tx2"/>
                </a:solidFill>
                <a:latin typeface="Arial" panose="020B0604020202020204" pitchFamily="34" charset="0"/>
              </a:rPr>
              <a:t>sensors and the internet</a:t>
            </a:r>
            <a:r>
              <a:rPr lang="en-US" altLang="en-US" sz="2800" dirty="0">
                <a:solidFill>
                  <a:schemeClr val="tx2"/>
                </a:solidFill>
                <a:latin typeface="Arial" panose="020B0604020202020204" pitchFamily="34" charset="0"/>
              </a:rPr>
              <a:t> to monitor solar and wind microgrids.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>
                <a:solidFill>
                  <a:schemeClr val="tx2"/>
                </a:solidFill>
                <a:latin typeface="Arial" panose="020B0604020202020204" pitchFamily="34" charset="0"/>
              </a:rPr>
              <a:t>They provide </a:t>
            </a:r>
            <a:r>
              <a:rPr lang="en-US" altLang="en-US" sz="2800" b="1" dirty="0">
                <a:solidFill>
                  <a:schemeClr val="tx2"/>
                </a:solidFill>
                <a:latin typeface="Arial" panose="020B0604020202020204" pitchFamily="34" charset="0"/>
              </a:rPr>
              <a:t>real-time data</a:t>
            </a:r>
            <a:r>
              <a:rPr lang="en-US" altLang="en-US" sz="2800" dirty="0">
                <a:solidFill>
                  <a:schemeClr val="tx2"/>
                </a:solidFill>
                <a:latin typeface="Arial" panose="020B0604020202020204" pitchFamily="34" charset="0"/>
              </a:rPr>
              <a:t> like voltage and power output.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>
                <a:solidFill>
                  <a:schemeClr val="tx2"/>
                </a:solidFill>
                <a:latin typeface="Arial" panose="020B0604020202020204" pitchFamily="34" charset="0"/>
              </a:rPr>
              <a:t>They help </a:t>
            </a:r>
            <a:r>
              <a:rPr lang="en-US" altLang="en-US" sz="2800" b="1" dirty="0">
                <a:solidFill>
                  <a:schemeClr val="tx2"/>
                </a:solidFill>
                <a:latin typeface="Arial" panose="020B0604020202020204" pitchFamily="34" charset="0"/>
              </a:rPr>
              <a:t>detect faults early</a:t>
            </a:r>
            <a:r>
              <a:rPr lang="en-US" altLang="en-US" sz="2800" dirty="0">
                <a:solidFill>
                  <a:schemeClr val="tx2"/>
                </a:solidFill>
                <a:latin typeface="Arial" panose="020B0604020202020204" pitchFamily="34" charset="0"/>
              </a:rPr>
              <a:t>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>
                <a:solidFill>
                  <a:schemeClr val="tx2"/>
                </a:solidFill>
                <a:latin typeface="Arial" panose="020B0604020202020204" pitchFamily="34" charset="0"/>
              </a:rPr>
              <a:t>They allow </a:t>
            </a:r>
            <a:r>
              <a:rPr lang="en-US" altLang="en-US" sz="2800" b="1" dirty="0">
                <a:solidFill>
                  <a:schemeClr val="tx2"/>
                </a:solidFill>
                <a:latin typeface="Arial" panose="020B0604020202020204" pitchFamily="34" charset="0"/>
              </a:rPr>
              <a:t>monitoring and control</a:t>
            </a:r>
            <a:r>
              <a:rPr lang="en-US" altLang="en-US" sz="2800" dirty="0">
                <a:solidFill>
                  <a:schemeClr val="tx2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800" b="1" dirty="0">
                <a:solidFill>
                  <a:schemeClr val="tx2"/>
                </a:solidFill>
                <a:latin typeface="Arial" panose="020B0604020202020204" pitchFamily="34" charset="0"/>
              </a:rPr>
              <a:t>remote</a:t>
            </a:r>
            <a:r>
              <a:rPr lang="en-US" altLang="en-US" sz="2800" dirty="0">
                <a:solidFill>
                  <a:schemeClr val="tx2"/>
                </a:solidFill>
                <a:latin typeface="Arial" panose="020B0604020202020204" pitchFamily="34" charset="0"/>
              </a:rPr>
              <a:t>.</a:t>
            </a:r>
          </a:p>
          <a:p>
            <a:pPr algn="just"/>
            <a:endParaRPr lang="en-US" sz="2800" i="1" dirty="0">
              <a:solidFill>
                <a:srgbClr val="272525"/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</p:txBody>
      </p:sp>
      <p:sp>
        <p:nvSpPr>
          <p:cNvPr id="22" name="Text 1"/>
          <p:cNvSpPr/>
          <p:nvPr/>
        </p:nvSpPr>
        <p:spPr>
          <a:xfrm>
            <a:off x="1095213" y="5398298"/>
            <a:ext cx="12462525" cy="2426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/>
            <a:endParaRPr lang="en-US" sz="2800" i="1" dirty="0">
              <a:solidFill>
                <a:srgbClr val="272525"/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15815" y="159152"/>
            <a:ext cx="2450804" cy="1755800"/>
          </a:xfrm>
          <a:prstGeom prst="rect">
            <a:avLst/>
          </a:prstGeom>
        </p:spPr>
      </p:pic>
      <p:pic>
        <p:nvPicPr>
          <p:cNvPr id="2050" name="Picture 2" descr="The Power of Integration &amp; APIs in IoT Data Analytics">
            <a:extLst>
              <a:ext uri="{FF2B5EF4-FFF2-40B4-BE49-F238E27FC236}">
                <a16:creationId xmlns:a16="http://schemas.microsoft.com/office/drawing/2014/main" id="{44D2B462-5BEE-A76D-507B-6C4CBC3F56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4966" y="4746578"/>
            <a:ext cx="4199709" cy="28033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Everything You Need to Know About IoT Sensor Integration in 2025">
            <a:extLst>
              <a:ext uri="{FF2B5EF4-FFF2-40B4-BE49-F238E27FC236}">
                <a16:creationId xmlns:a16="http://schemas.microsoft.com/office/drawing/2014/main" id="{8BA0DA57-105E-2410-664F-C6F5E0D165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4308" y="4712677"/>
            <a:ext cx="6045290" cy="27983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062523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90218" y="331343"/>
            <a:ext cx="8403669" cy="776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n-US" sz="5400" b="1" dirty="0"/>
              <a:t>Proposed Solution </a:t>
            </a:r>
          </a:p>
          <a:p>
            <a:endParaRPr lang="en-US" sz="5400" dirty="0"/>
          </a:p>
        </p:txBody>
      </p:sp>
      <p:sp>
        <p:nvSpPr>
          <p:cNvPr id="4" name="Text 1"/>
          <p:cNvSpPr/>
          <p:nvPr/>
        </p:nvSpPr>
        <p:spPr>
          <a:xfrm>
            <a:off x="790218" y="1743603"/>
            <a:ext cx="13084044" cy="29632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/>
            <a:endParaRPr lang="en-US" sz="2800" i="1" dirty="0">
              <a:solidFill>
                <a:srgbClr val="272525"/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</p:txBody>
      </p:sp>
      <p:sp>
        <p:nvSpPr>
          <p:cNvPr id="5" name="Text 1"/>
          <p:cNvSpPr/>
          <p:nvPr/>
        </p:nvSpPr>
        <p:spPr>
          <a:xfrm>
            <a:off x="1097949" y="2256739"/>
            <a:ext cx="13084044" cy="29632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/>
            <a:r>
              <a:rPr lang="en-US" sz="2800" b="1" dirty="0">
                <a:latin typeface="Inter Bold" pitchFamily="34" charset="0"/>
                <a:ea typeface="Inter Bold" pitchFamily="34" charset="-122"/>
                <a:cs typeface="Inter Bold" pitchFamily="34" charset="-120"/>
              </a:rPr>
              <a:t>IoT-based monitoring system</a:t>
            </a:r>
          </a:p>
          <a:p>
            <a:pPr algn="just"/>
            <a:endParaRPr lang="en-US" sz="2800" dirty="0"/>
          </a:p>
          <a:p>
            <a:pPr algn="just"/>
            <a:r>
              <a:rPr lang="en-US" sz="2800" b="1" dirty="0"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Real-time data collection</a:t>
            </a:r>
          </a:p>
          <a:p>
            <a:pPr algn="just"/>
            <a:endParaRPr lang="en-US" sz="2800" dirty="0"/>
          </a:p>
          <a:p>
            <a:pPr algn="just"/>
            <a:r>
              <a:rPr lang="en-US" sz="2800" b="1" dirty="0">
                <a:latin typeface="Inter Bold" pitchFamily="34" charset="0"/>
                <a:ea typeface="Inter Bold" pitchFamily="34" charset="-122"/>
                <a:cs typeface="Inter Bold" pitchFamily="34" charset="-120"/>
              </a:rPr>
              <a:t>Cloud storage &amp; dashboard</a:t>
            </a:r>
          </a:p>
          <a:p>
            <a:pPr algn="just"/>
            <a:endParaRPr lang="en-US" sz="2800" dirty="0"/>
          </a:p>
          <a:p>
            <a:pPr algn="just"/>
            <a:r>
              <a:rPr lang="en-US" sz="2800" b="1" dirty="0">
                <a:latin typeface="Inter Bold" pitchFamily="34" charset="0"/>
                <a:ea typeface="Inter Bold" pitchFamily="34" charset="-122"/>
                <a:cs typeface="Inter Bold" pitchFamily="34" charset="-120"/>
              </a:rPr>
              <a:t>Automatic fault alerts</a:t>
            </a:r>
            <a:endParaRPr lang="en-US" sz="2800" dirty="0"/>
          </a:p>
          <a:p>
            <a:pPr algn="just"/>
            <a:endParaRPr lang="en-US" sz="2800" b="1" i="1" dirty="0">
              <a:solidFill>
                <a:srgbClr val="272525"/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8920" y="141567"/>
            <a:ext cx="2450804" cy="1755800"/>
          </a:xfrm>
          <a:prstGeom prst="rect">
            <a:avLst/>
          </a:prstGeom>
        </p:spPr>
      </p:pic>
      <p:pic>
        <p:nvPicPr>
          <p:cNvPr id="4098" name="Picture 2" descr="Frontiers | Microgrid energy management and monitoring systems: A comprehensive review">
            <a:extLst>
              <a:ext uri="{FF2B5EF4-FFF2-40B4-BE49-F238E27FC236}">
                <a16:creationId xmlns:a16="http://schemas.microsoft.com/office/drawing/2014/main" id="{A3A00F63-7FD8-08F4-29F9-4F0EDEE3A5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8348" y="2913017"/>
            <a:ext cx="6055949" cy="38182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785707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90218" y="331343"/>
            <a:ext cx="8403669" cy="776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n-US" sz="5400" b="1" dirty="0"/>
              <a:t>Prototype Development</a:t>
            </a:r>
          </a:p>
          <a:p>
            <a:r>
              <a:rPr lang="en-US" sz="5400" b="1" dirty="0"/>
              <a:t> </a:t>
            </a:r>
          </a:p>
          <a:p>
            <a:endParaRPr lang="en-US" sz="5400" dirty="0"/>
          </a:p>
        </p:txBody>
      </p:sp>
      <p:sp>
        <p:nvSpPr>
          <p:cNvPr id="5" name="Text 1"/>
          <p:cNvSpPr/>
          <p:nvPr/>
        </p:nvSpPr>
        <p:spPr>
          <a:xfrm>
            <a:off x="790218" y="1694834"/>
            <a:ext cx="6116550" cy="6022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/>
            <a:r>
              <a:rPr lang="en-US" sz="2800" b="1" dirty="0">
                <a:latin typeface="Inter Bold" pitchFamily="34" charset="0"/>
                <a:ea typeface="Inter Bold" pitchFamily="34" charset="-122"/>
                <a:cs typeface="Inter Bold" pitchFamily="34" charset="-120"/>
              </a:rPr>
              <a:t>Solar Panel / Wind Turbine</a:t>
            </a:r>
          </a:p>
          <a:p>
            <a:pPr algn="just"/>
            <a:endParaRPr lang="en-US" sz="2800" dirty="0"/>
          </a:p>
          <a:p>
            <a:pPr algn="just"/>
            <a:r>
              <a:rPr lang="en-US" sz="2800" b="1" dirty="0">
                <a:latin typeface="Inter Bold" pitchFamily="34" charset="0"/>
                <a:ea typeface="Inter Bold" pitchFamily="34" charset="-122"/>
                <a:cs typeface="Inter Bold" pitchFamily="34" charset="-120"/>
              </a:rPr>
              <a:t>Voltage &amp; Current Sensors</a:t>
            </a:r>
          </a:p>
          <a:p>
            <a:pPr algn="just"/>
            <a:endParaRPr lang="en-US" sz="2800" dirty="0"/>
          </a:p>
          <a:p>
            <a:pPr algn="just"/>
            <a:r>
              <a:rPr lang="en-US" sz="2800" b="1" dirty="0">
                <a:latin typeface="Inter Bold" pitchFamily="34" charset="0"/>
                <a:ea typeface="Inter Bold" pitchFamily="34" charset="-122"/>
                <a:cs typeface="Inter Bold" pitchFamily="34" charset="-120"/>
              </a:rPr>
              <a:t>ESP32 Microcontroller</a:t>
            </a:r>
          </a:p>
          <a:p>
            <a:pPr algn="just"/>
            <a:endParaRPr lang="en-US" sz="2800" dirty="0"/>
          </a:p>
          <a:p>
            <a:pPr algn="just"/>
            <a:r>
              <a:rPr lang="en-US" sz="2800" b="1" dirty="0">
                <a:latin typeface="Inter Bold" pitchFamily="34" charset="0"/>
                <a:ea typeface="Inter Bold" pitchFamily="34" charset="-122"/>
                <a:cs typeface="Inter Bold" pitchFamily="34" charset="-120"/>
              </a:rPr>
              <a:t>Battery &amp; Charge Controller</a:t>
            </a:r>
          </a:p>
          <a:p>
            <a:pPr algn="just"/>
            <a:endParaRPr lang="en-US" sz="2800" dirty="0"/>
          </a:p>
          <a:p>
            <a:pPr algn="just"/>
            <a:r>
              <a:rPr lang="en-US" sz="2800" b="1" dirty="0"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Temperature Sensor</a:t>
            </a:r>
          </a:p>
          <a:p>
            <a:pPr algn="just"/>
            <a:endParaRPr lang="en-US" sz="2800" dirty="0"/>
          </a:p>
          <a:p>
            <a:pPr algn="just"/>
            <a:r>
              <a:rPr lang="en-US" sz="2800" b="1" dirty="0">
                <a:latin typeface="Inter Bold" pitchFamily="34" charset="0"/>
                <a:ea typeface="Inter Bold" pitchFamily="34" charset="-122"/>
                <a:cs typeface="Inter Bold" pitchFamily="34" charset="-120"/>
              </a:rPr>
              <a:t>GSM/</a:t>
            </a:r>
            <a:r>
              <a:rPr lang="en-US" sz="2800" b="1" dirty="0" err="1">
                <a:latin typeface="Inter Bold" pitchFamily="34" charset="0"/>
                <a:ea typeface="Inter Bold" pitchFamily="34" charset="-122"/>
                <a:cs typeface="Inter Bold" pitchFamily="34" charset="-120"/>
              </a:rPr>
              <a:t>WiFi</a:t>
            </a:r>
            <a:r>
              <a:rPr lang="en-US" sz="2800" b="1" dirty="0">
                <a:latin typeface="Inter Bold" pitchFamily="34" charset="0"/>
                <a:ea typeface="Inter Bold" pitchFamily="34" charset="-122"/>
                <a:cs typeface="Inter Bold" pitchFamily="34" charset="-120"/>
              </a:rPr>
              <a:t> Module</a:t>
            </a:r>
            <a:endParaRPr lang="en-US" sz="2800" dirty="0"/>
          </a:p>
          <a:p>
            <a:pPr algn="just"/>
            <a:endParaRPr lang="en-US" sz="2800" i="1" dirty="0">
              <a:solidFill>
                <a:srgbClr val="272525"/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</p:txBody>
      </p:sp>
      <p:sp>
        <p:nvSpPr>
          <p:cNvPr id="7" name="Text 1"/>
          <p:cNvSpPr/>
          <p:nvPr/>
        </p:nvSpPr>
        <p:spPr>
          <a:xfrm>
            <a:off x="7772401" y="1857493"/>
            <a:ext cx="6084276" cy="5860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endParaRPr lang="en-US" sz="2800" i="1" dirty="0">
              <a:solidFill>
                <a:srgbClr val="272525"/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13677" y="100272"/>
            <a:ext cx="1776047" cy="1272392"/>
          </a:xfrm>
          <a:prstGeom prst="rect">
            <a:avLst/>
          </a:prstGeom>
        </p:spPr>
      </p:pic>
      <p:pic>
        <p:nvPicPr>
          <p:cNvPr id="3074" name="Picture 2" descr="Affordable Mini Solar Panel Kit: Power Your Projects - Solarize">
            <a:extLst>
              <a:ext uri="{FF2B5EF4-FFF2-40B4-BE49-F238E27FC236}">
                <a16:creationId xmlns:a16="http://schemas.microsoft.com/office/drawing/2014/main" id="{A9A9AA77-4B3E-DC05-8865-1EE49AC895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75557" y="1372664"/>
            <a:ext cx="3799517" cy="21711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Using the voltage sensor module">
            <a:extLst>
              <a:ext uri="{FF2B5EF4-FFF2-40B4-BE49-F238E27FC236}">
                <a16:creationId xmlns:a16="http://schemas.microsoft.com/office/drawing/2014/main" id="{CE560390-3701-9006-8C2B-F9C0BEF10E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75557" y="4114800"/>
            <a:ext cx="2616381" cy="26059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765976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90218" y="331343"/>
            <a:ext cx="8403669" cy="776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n-US" sz="5400" b="1" dirty="0"/>
              <a:t>Prototype Development </a:t>
            </a:r>
            <a:r>
              <a:rPr lang="en-US" sz="5400" b="1" dirty="0">
                <a:solidFill>
                  <a:srgbClr val="3333CC"/>
                </a:solidFill>
              </a:rPr>
              <a:t>cont.,</a:t>
            </a:r>
          </a:p>
          <a:p>
            <a:r>
              <a:rPr lang="en-US" sz="5400" b="1" dirty="0"/>
              <a:t> </a:t>
            </a:r>
          </a:p>
          <a:p>
            <a:endParaRPr lang="en-US" sz="5400" dirty="0"/>
          </a:p>
        </p:txBody>
      </p:sp>
      <p:sp>
        <p:nvSpPr>
          <p:cNvPr id="5" name="Text 1"/>
          <p:cNvSpPr/>
          <p:nvPr/>
        </p:nvSpPr>
        <p:spPr>
          <a:xfrm>
            <a:off x="790218" y="1694834"/>
            <a:ext cx="6116550" cy="6022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/>
            <a:r>
              <a:rPr lang="en-US" sz="2800" b="1" u="sng" dirty="0">
                <a:latin typeface="Inter Bold" pitchFamily="34" charset="0"/>
                <a:ea typeface="Inter Bold" pitchFamily="34" charset="-122"/>
                <a:cs typeface="Inter Bold" pitchFamily="34" charset="-120"/>
              </a:rPr>
              <a:t>Software &amp; Working</a:t>
            </a:r>
          </a:p>
          <a:p>
            <a:pPr algn="just"/>
            <a:endParaRPr lang="en-US" sz="2800" u="sng" dirty="0"/>
          </a:p>
          <a:p>
            <a:pPr algn="just"/>
            <a:r>
              <a:rPr lang="en-US" sz="2800" b="1" dirty="0">
                <a:latin typeface="Inter Bold" pitchFamily="34" charset="0"/>
                <a:ea typeface="Inter Bold" pitchFamily="34" charset="-122"/>
                <a:cs typeface="Inter Bold" pitchFamily="34" charset="-120"/>
              </a:rPr>
              <a:t>Embedded programming (Arduino IDE)</a:t>
            </a:r>
          </a:p>
          <a:p>
            <a:pPr algn="just"/>
            <a:endParaRPr lang="en-US" sz="2800" dirty="0"/>
          </a:p>
          <a:p>
            <a:pPr algn="just"/>
            <a:r>
              <a:rPr lang="en-US" sz="2800" b="1" dirty="0">
                <a:latin typeface="Inter Bold" pitchFamily="34" charset="0"/>
                <a:ea typeface="Inter Bold" pitchFamily="34" charset="-122"/>
                <a:cs typeface="Inter Bold" pitchFamily="34" charset="-120"/>
              </a:rPr>
              <a:t>Cloud platform integration</a:t>
            </a:r>
          </a:p>
          <a:p>
            <a:pPr algn="just"/>
            <a:endParaRPr lang="en-US" sz="2800" dirty="0"/>
          </a:p>
          <a:p>
            <a:pPr algn="just"/>
            <a:r>
              <a:rPr lang="en-US" sz="2800" b="1" dirty="0">
                <a:latin typeface="Inter Bold" pitchFamily="34" charset="0"/>
                <a:ea typeface="Inter Bold" pitchFamily="34" charset="-122"/>
                <a:cs typeface="Inter Bold" pitchFamily="34" charset="-120"/>
              </a:rPr>
              <a:t>Power Calculation: Power = Voltage × Current</a:t>
            </a:r>
          </a:p>
          <a:p>
            <a:pPr algn="just"/>
            <a:endParaRPr lang="en-US" sz="2800" dirty="0"/>
          </a:p>
          <a:p>
            <a:pPr algn="just"/>
            <a:r>
              <a:rPr lang="en-US" sz="2800" b="1" dirty="0">
                <a:latin typeface="Inter Bold" pitchFamily="34" charset="0"/>
                <a:ea typeface="Inter Bold" pitchFamily="34" charset="-122"/>
                <a:cs typeface="Inter Bold" pitchFamily="34" charset="-120"/>
              </a:rPr>
              <a:t>Battery % and efficiency monitoring</a:t>
            </a:r>
            <a:endParaRPr lang="en-US" sz="2800" dirty="0"/>
          </a:p>
          <a:p>
            <a:pPr algn="just"/>
            <a:endParaRPr lang="en-US" sz="2800" i="1" dirty="0">
              <a:solidFill>
                <a:srgbClr val="272525"/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</p:txBody>
      </p:sp>
      <p:sp>
        <p:nvSpPr>
          <p:cNvPr id="7" name="Text 1"/>
          <p:cNvSpPr/>
          <p:nvPr/>
        </p:nvSpPr>
        <p:spPr>
          <a:xfrm>
            <a:off x="7772401" y="1857493"/>
            <a:ext cx="6084276" cy="5860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endParaRPr lang="en-US" sz="2800" i="1" dirty="0">
              <a:solidFill>
                <a:srgbClr val="272525"/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13677" y="100272"/>
            <a:ext cx="1776047" cy="1272392"/>
          </a:xfrm>
          <a:prstGeom prst="rect">
            <a:avLst/>
          </a:prstGeom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930CA2B3-C48D-11BD-CDBE-DC908B8D0D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8734" y="2687757"/>
            <a:ext cx="3623838" cy="22854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IoT Energy Meter using INA219 Sensor ESP8266 &amp; Blynk">
            <a:extLst>
              <a:ext uri="{FF2B5EF4-FFF2-40B4-BE49-F238E27FC236}">
                <a16:creationId xmlns:a16="http://schemas.microsoft.com/office/drawing/2014/main" id="{7C57A2FB-5DFF-36DE-2DF0-3EEC1C0E5A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83392" y="2581974"/>
            <a:ext cx="3460569" cy="34288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543031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90218" y="331343"/>
            <a:ext cx="8403669" cy="776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n-US" sz="5400" b="1" dirty="0"/>
              <a:t>Conclusion </a:t>
            </a:r>
          </a:p>
          <a:p>
            <a:endParaRPr lang="en-US" sz="5400" dirty="0"/>
          </a:p>
        </p:txBody>
      </p:sp>
      <p:sp>
        <p:nvSpPr>
          <p:cNvPr id="5" name="Text 1"/>
          <p:cNvSpPr/>
          <p:nvPr/>
        </p:nvSpPr>
        <p:spPr>
          <a:xfrm>
            <a:off x="790218" y="1544092"/>
            <a:ext cx="6460505" cy="29632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/>
            <a:endParaRPr lang="en-US" sz="2800" i="1" dirty="0">
              <a:solidFill>
                <a:srgbClr val="272525"/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</p:txBody>
      </p:sp>
      <p:sp>
        <p:nvSpPr>
          <p:cNvPr id="7" name="Text 1"/>
          <p:cNvSpPr/>
          <p:nvPr/>
        </p:nvSpPr>
        <p:spPr>
          <a:xfrm>
            <a:off x="8750187" y="1544092"/>
            <a:ext cx="5514453" cy="29632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/>
            <a:endParaRPr lang="en-US" sz="2800" i="1" dirty="0">
              <a:solidFill>
                <a:srgbClr val="272525"/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</p:txBody>
      </p:sp>
      <p:sp>
        <p:nvSpPr>
          <p:cNvPr id="9" name="Text 1"/>
          <p:cNvSpPr/>
          <p:nvPr/>
        </p:nvSpPr>
        <p:spPr>
          <a:xfrm>
            <a:off x="1180596" y="5407065"/>
            <a:ext cx="12306804" cy="23125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/>
            <a:endParaRPr lang="en-US" sz="2800" i="1" dirty="0">
              <a:solidFill>
                <a:srgbClr val="272525"/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70253" y="105960"/>
            <a:ext cx="2034294" cy="1457405"/>
          </a:xfrm>
          <a:prstGeom prst="rect">
            <a:avLst/>
          </a:prstGeom>
        </p:spPr>
      </p:pic>
      <p:sp>
        <p:nvSpPr>
          <p:cNvPr id="2" name="Shape 3">
            <a:extLst>
              <a:ext uri="{FF2B5EF4-FFF2-40B4-BE49-F238E27FC236}">
                <a16:creationId xmlns:a16="http://schemas.microsoft.com/office/drawing/2014/main" id="{51E7E31D-A91A-54BA-FFF6-A8162F1805FE}"/>
              </a:ext>
            </a:extLst>
          </p:cNvPr>
          <p:cNvSpPr/>
          <p:nvPr/>
        </p:nvSpPr>
        <p:spPr>
          <a:xfrm>
            <a:off x="550311" y="1884930"/>
            <a:ext cx="6407944" cy="823198"/>
          </a:xfrm>
          <a:prstGeom prst="roundRect">
            <a:avLst>
              <a:gd name="adj" fmla="val 66131"/>
            </a:avLst>
          </a:prstGeom>
          <a:solidFill>
            <a:srgbClr val="110080"/>
          </a:solidFill>
          <a:ln w="7620">
            <a:solidFill>
              <a:srgbClr val="2A1999"/>
            </a:solidFill>
            <a:prstDash val="solid"/>
          </a:ln>
        </p:spPr>
        <p:txBody>
          <a:bodyPr/>
          <a:lstStyle/>
          <a:p>
            <a:r>
              <a:rPr lang="en-US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Enhances reliability of rural microgrids</a:t>
            </a:r>
            <a:endParaRPr lang="en-US" dirty="0"/>
          </a:p>
          <a:p>
            <a:endParaRPr lang="en-IN" dirty="0"/>
          </a:p>
        </p:txBody>
      </p:sp>
      <p:sp>
        <p:nvSpPr>
          <p:cNvPr id="11" name="Shape 5">
            <a:extLst>
              <a:ext uri="{FF2B5EF4-FFF2-40B4-BE49-F238E27FC236}">
                <a16:creationId xmlns:a16="http://schemas.microsoft.com/office/drawing/2014/main" id="{7DD20A9A-FD92-35AB-168B-47E51264BE61}"/>
              </a:ext>
            </a:extLst>
          </p:cNvPr>
          <p:cNvSpPr/>
          <p:nvPr/>
        </p:nvSpPr>
        <p:spPr>
          <a:xfrm>
            <a:off x="550192" y="3291602"/>
            <a:ext cx="6408063" cy="823198"/>
          </a:xfrm>
          <a:prstGeom prst="roundRect">
            <a:avLst>
              <a:gd name="adj" fmla="val 66131"/>
            </a:avLst>
          </a:prstGeom>
          <a:solidFill>
            <a:srgbClr val="110080"/>
          </a:solidFill>
          <a:ln w="7620">
            <a:solidFill>
              <a:srgbClr val="2A1999"/>
            </a:solidFill>
            <a:prstDash val="solid"/>
          </a:ln>
        </p:spPr>
        <p:txBody>
          <a:bodyPr/>
          <a:lstStyle/>
          <a:p>
            <a:r>
              <a:rPr lang="en-US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Prevents unexpected failures</a:t>
            </a:r>
            <a:endParaRPr lang="en-US" dirty="0"/>
          </a:p>
          <a:p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894E1C5-7601-E680-995B-BA7654EF744F}"/>
              </a:ext>
            </a:extLst>
          </p:cNvPr>
          <p:cNvSpPr txBox="1"/>
          <p:nvPr/>
        </p:nvSpPr>
        <p:spPr>
          <a:xfrm>
            <a:off x="3657600" y="3930134"/>
            <a:ext cx="7315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</p:txBody>
      </p:sp>
      <p:sp>
        <p:nvSpPr>
          <p:cNvPr id="14" name="Shape 9">
            <a:extLst>
              <a:ext uri="{FF2B5EF4-FFF2-40B4-BE49-F238E27FC236}">
                <a16:creationId xmlns:a16="http://schemas.microsoft.com/office/drawing/2014/main" id="{BBA04F8D-03E0-948D-9573-5E04653B3461}"/>
              </a:ext>
            </a:extLst>
          </p:cNvPr>
          <p:cNvSpPr/>
          <p:nvPr/>
        </p:nvSpPr>
        <p:spPr>
          <a:xfrm>
            <a:off x="550311" y="4507304"/>
            <a:ext cx="6408063" cy="823198"/>
          </a:xfrm>
          <a:prstGeom prst="roundRect">
            <a:avLst>
              <a:gd name="adj" fmla="val 66131"/>
            </a:avLst>
          </a:prstGeom>
          <a:solidFill>
            <a:srgbClr val="110080"/>
          </a:solidFill>
          <a:ln w="7620">
            <a:solidFill>
              <a:srgbClr val="2A1999"/>
            </a:solidFill>
            <a:prstDash val="solid"/>
          </a:ln>
        </p:spPr>
        <p:txBody>
          <a:bodyPr/>
          <a:lstStyle/>
          <a:p>
            <a:r>
              <a:rPr lang="en-US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Supports sustainable energy systems</a:t>
            </a:r>
            <a:endParaRPr lang="en-US" dirty="0"/>
          </a:p>
          <a:p>
            <a:endParaRPr lang="en-IN" dirty="0"/>
          </a:p>
        </p:txBody>
      </p:sp>
      <p:sp>
        <p:nvSpPr>
          <p:cNvPr id="15" name="Shape 9">
            <a:extLst>
              <a:ext uri="{FF2B5EF4-FFF2-40B4-BE49-F238E27FC236}">
                <a16:creationId xmlns:a16="http://schemas.microsoft.com/office/drawing/2014/main" id="{9A0258CA-6452-9148-E5FD-CCB2E53661BA}"/>
              </a:ext>
            </a:extLst>
          </p:cNvPr>
          <p:cNvSpPr/>
          <p:nvPr/>
        </p:nvSpPr>
        <p:spPr>
          <a:xfrm>
            <a:off x="550311" y="5938679"/>
            <a:ext cx="6408063" cy="823198"/>
          </a:xfrm>
          <a:prstGeom prst="roundRect">
            <a:avLst>
              <a:gd name="adj" fmla="val 66131"/>
            </a:avLst>
          </a:prstGeom>
          <a:solidFill>
            <a:srgbClr val="110080"/>
          </a:solidFill>
          <a:ln w="7620">
            <a:solidFill>
              <a:srgbClr val="2A1999"/>
            </a:solidFill>
            <a:prstDash val="solid"/>
          </a:ln>
        </p:spPr>
        <p:txBody>
          <a:bodyPr/>
          <a:lstStyle/>
          <a:p>
            <a:r>
              <a:rPr lang="en-US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Scalable and cost-effective solution</a:t>
            </a:r>
            <a:endParaRPr lang="en-US" dirty="0"/>
          </a:p>
          <a:p>
            <a:endParaRPr lang="en-IN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7D07C51-4DEB-641C-CD73-FAE3E6AE1C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4707" y="2214991"/>
            <a:ext cx="5966861" cy="39779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940068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/>
        </p:nvSpPr>
        <p:spPr>
          <a:xfrm>
            <a:off x="4950739" y="3608070"/>
            <a:ext cx="4345662" cy="10710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00"/>
              </a:lnSpc>
              <a:buNone/>
            </a:pPr>
            <a:r>
              <a:rPr lang="en-US" sz="6700" b="1" dirty="0">
                <a:solidFill>
                  <a:srgbClr val="3366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Thank You</a:t>
            </a:r>
            <a:endParaRPr lang="en-US" sz="6700" dirty="0">
              <a:solidFill>
                <a:srgbClr val="3366FF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466860" y="5131861"/>
            <a:ext cx="782143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i="1" dirty="0"/>
              <a:t>SKCET transform society through innovation and technology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8920" y="141567"/>
            <a:ext cx="2450804" cy="175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34415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538</TotalTime>
  <Words>244</Words>
  <Application>Microsoft Office PowerPoint</Application>
  <PresentationFormat>Custom</PresentationFormat>
  <Paragraphs>64</Paragraphs>
  <Slides>8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Petrona Bold</vt:lpstr>
      <vt:lpstr>Calibri</vt:lpstr>
      <vt:lpstr>Inter</vt:lpstr>
      <vt:lpstr>Inter Bold</vt:lpstr>
      <vt:lpstr>Calibri Light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Sound</dc:creator>
  <cp:lastModifiedBy>boobalan muruganandam</cp:lastModifiedBy>
  <cp:revision>63</cp:revision>
  <dcterms:created xsi:type="dcterms:W3CDTF">2025-08-30T00:57:34Z</dcterms:created>
  <dcterms:modified xsi:type="dcterms:W3CDTF">2026-03-27T09:15:52Z</dcterms:modified>
</cp:coreProperties>
</file>